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</p:sldIdLst>
  <p:sldSz cx="14630400" cy="8229600"/>
  <p:notesSz cx="8229600" cy="146304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Medium" panose="020F0502020204030204" pitchFamily="34" charset="0"/>
      <p:regular r:id="rId15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02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7658" y="3408878"/>
            <a:ext cx="7808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סדנת מסדי נתונים: המלצות סרטים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endParaRPr lang="en-US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 rtl="1">
              <a:lnSpc>
                <a:spcPts val="2850"/>
              </a:lnSpc>
              <a:buNone/>
            </a:pPr>
            <a:r>
              <a:rPr lang="he-IL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מגישים:</a:t>
            </a:r>
          </a:p>
          <a:p>
            <a:pPr marL="0" indent="0" algn="r" rtl="1">
              <a:lnSpc>
                <a:spcPts val="2850"/>
              </a:lnSpc>
              <a:buNone/>
            </a:pPr>
            <a:r>
              <a:rPr lang="he-IL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אייל סטולוב</a:t>
            </a:r>
          </a:p>
          <a:p>
            <a:pPr marL="0" indent="0" algn="r" rtl="1">
              <a:lnSpc>
                <a:spcPts val="2850"/>
              </a:lnSpc>
              <a:buNone/>
            </a:pPr>
            <a:r>
              <a:rPr lang="he-IL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איתי </a:t>
            </a:r>
            <a:r>
              <a:rPr lang="he-IL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גרדנוויץ</a:t>
            </a:r>
            <a:endParaRPr lang="en-US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2294D-4EA8-C56F-E9C6-F0E2194D82BE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021" y="22184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מערכי הנתונים שלנו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607594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793790" y="357711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2551688" y="326743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2755761" y="343757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41745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MovieLens 25M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66498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כ-33 מיליון דירוגים, 2 מיליון תגיות ל-86,000 סרטים מ-330,975 משתמשים. כולל נתוני גנום תגיות.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607594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216962" y="357711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6974860" y="326743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178933" y="343757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4174569"/>
            <a:ext cx="36612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Movies Dataset (Kaggle)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66498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מטא-נתונים עשירים: תקציבים, שפות, תקצירים, תאריכי יציאה, הכנסות, זמני ריצה וכותרות.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607594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000018">
              <a:alpha val="9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9640133" y="357711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11398032" y="326743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1602105" y="343757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4174569"/>
            <a:ext cx="32254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PosterLens 25M (Kaggle)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66498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נתיבי פוסטרים מקושרים ל-TMDB להצגת תמונות ופוסטרים באתר.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117DEF-F69C-81EA-D45B-9AC766966616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021" y="17378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מבנה מערך הנתונים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67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מערך הנתונים מורכב ממספר קבצים המכילים מידע מגוון על סרטים ומשתמשים.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048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כל קובץ מספק היבט ייחודי של הנתונים, החל מפרטי סרטים בסיסיים ועד לדירוגים ותגיות משתמשים.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690" y="4022884"/>
            <a:ext cx="8122920" cy="24688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EC3D7B-039E-A031-2106-3C8E0ACF8113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62" y="1848683"/>
            <a:ext cx="62168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קבצי הנתונים: Movies.csv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57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Movies.csv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3860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מכיל כותרת בסיסית ומידע על ז'אנרים עבור כל מזהה סרט (movieID).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0558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movie_id: מזהה ייחודי לסרט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4778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title: כותרת הסרט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58997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genres: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ז'אנרים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אליהם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משתייך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הסרט</a:t>
            </a:r>
            <a:endParaRPr lang="he-IL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he-IL" sz="1750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3152775"/>
            <a:ext cx="4885015" cy="29728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ADB56C-01B4-A07D-5E23-B72703D51D34}"/>
              </a:ext>
            </a:extLst>
          </p:cNvPr>
          <p:cNvSpPr txBox="1"/>
          <p:nvPr/>
        </p:nvSpPr>
        <p:spPr>
          <a:xfrm>
            <a:off x="793790" y="5486400"/>
            <a:ext cx="53265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</a:rPr>
              <a:t>CREATE TABLE IF NOT EXISTS movies(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movieId</a:t>
            </a:r>
            <a:r>
              <a:rPr lang="en-US" dirty="0">
                <a:solidFill>
                  <a:schemeClr val="bg1"/>
                </a:solidFill>
              </a:rPr>
              <a:t> INT PRIMARY KEY,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title VARCHAR(500),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genres VARCHAR(500)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pPr marL="0" defTabSz="914400" rtl="1" eaLnBrk="1" latinLnBrk="0" hangingPunct="1"/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10D7B-5ADA-91F7-2A29-FFC8BAE70E05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2013" y="894159"/>
            <a:ext cx="91645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קבצי הנתונים: Ratings.csv ו-Links.csv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16" y="2074187"/>
            <a:ext cx="431292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6716" y="1602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Ratings.csv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-1345073" y="5637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דירוג עבור כל משתמש רשום לכל movieID.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691" y="2194322"/>
            <a:ext cx="3169920" cy="3733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21875" y="1644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Links.csv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99521" y="60294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מזהי IMDb עבור כל מזהה סרט במערך הנתונים.</a:t>
            </a:r>
            <a:endParaRPr lang="en-US" sz="1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046D1-8158-C22B-15F7-0C41554FF918}"/>
              </a:ext>
            </a:extLst>
          </p:cNvPr>
          <p:cNvSpPr txBox="1"/>
          <p:nvPr/>
        </p:nvSpPr>
        <p:spPr>
          <a:xfrm>
            <a:off x="1293852" y="2525447"/>
            <a:ext cx="107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ס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03585-2870-2822-C49B-0239F1F4516F}"/>
              </a:ext>
            </a:extLst>
          </p:cNvPr>
          <p:cNvSpPr txBox="1"/>
          <p:nvPr/>
        </p:nvSpPr>
        <p:spPr>
          <a:xfrm>
            <a:off x="5462016" y="1957268"/>
            <a:ext cx="41087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dirty="0">
                <a:solidFill>
                  <a:schemeClr val="bg1"/>
                </a:solidFill>
              </a:rPr>
              <a:t>CREATE TABLE IF NOT EXISTS ratings(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userId</a:t>
            </a:r>
            <a:r>
              <a:rPr lang="en-US" dirty="0">
                <a:solidFill>
                  <a:schemeClr val="bg1"/>
                </a:solidFill>
              </a:rPr>
              <a:t> INT,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movieId</a:t>
            </a:r>
            <a:r>
              <a:rPr lang="en-US" dirty="0">
                <a:solidFill>
                  <a:schemeClr val="bg1"/>
                </a:solidFill>
              </a:rPr>
              <a:t> INT,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rating DECIMAL(2,1),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rating_time</a:t>
            </a:r>
            <a:r>
              <a:rPr lang="en-US" dirty="0">
                <a:solidFill>
                  <a:schemeClr val="bg1"/>
                </a:solidFill>
              </a:rPr>
              <a:t> DATETIME,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PRIMARY KEY (</a:t>
            </a:r>
            <a:r>
              <a:rPr lang="en-US" dirty="0" err="1">
                <a:solidFill>
                  <a:schemeClr val="bg1"/>
                </a:solidFill>
              </a:rPr>
              <a:t>userId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movieId</a:t>
            </a:r>
            <a:r>
              <a:rPr lang="en-US" dirty="0">
                <a:solidFill>
                  <a:schemeClr val="bg1"/>
                </a:solidFill>
              </a:rPr>
              <a:t>),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FOREIGN KEY (</a:t>
            </a:r>
            <a:r>
              <a:rPr lang="en-US" dirty="0" err="1">
                <a:solidFill>
                  <a:schemeClr val="bg1"/>
                </a:solidFill>
              </a:rPr>
              <a:t>movieId</a:t>
            </a:r>
            <a:r>
              <a:rPr lang="en-US" dirty="0">
                <a:solidFill>
                  <a:schemeClr val="bg1"/>
                </a:solidFill>
              </a:rPr>
              <a:t>) REFERENCES movies(</a:t>
            </a:r>
            <a:r>
              <a:rPr lang="en-US" dirty="0" err="1">
                <a:solidFill>
                  <a:schemeClr val="bg1"/>
                </a:solidFill>
              </a:rPr>
              <a:t>movieId</a:t>
            </a:r>
            <a:r>
              <a:rPr lang="en-US" dirty="0">
                <a:solidFill>
                  <a:schemeClr val="bg1"/>
                </a:solidFill>
              </a:rPr>
              <a:t>)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);</a:t>
            </a:r>
            <a:endParaRPr lang="he-IL" dirty="0">
              <a:solidFill>
                <a:schemeClr val="bg1"/>
              </a:solidFill>
            </a:endParaRPr>
          </a:p>
          <a:p>
            <a:pPr rtl="1"/>
            <a:endParaRPr lang="he-IL" dirty="0">
              <a:solidFill>
                <a:schemeClr val="bg1"/>
              </a:solidFill>
            </a:endParaRPr>
          </a:p>
          <a:p>
            <a:pPr rtl="1"/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CREATE TABLE IF NOT EXISTS links(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movieId</a:t>
            </a:r>
            <a:r>
              <a:rPr lang="en-US" dirty="0">
                <a:solidFill>
                  <a:schemeClr val="bg1"/>
                </a:solidFill>
              </a:rPr>
              <a:t> INT PRIMARY KEY,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imdbId</a:t>
            </a:r>
            <a:r>
              <a:rPr lang="en-US" dirty="0">
                <a:solidFill>
                  <a:schemeClr val="bg1"/>
                </a:solidFill>
              </a:rPr>
              <a:t> VARCHAR(20),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</a:t>
            </a:r>
            <a:r>
              <a:rPr lang="en-US" dirty="0" err="1">
                <a:solidFill>
                  <a:schemeClr val="bg1"/>
                </a:solidFill>
              </a:rPr>
              <a:t>tmdbId</a:t>
            </a:r>
            <a:r>
              <a:rPr lang="en-US" dirty="0">
                <a:solidFill>
                  <a:schemeClr val="bg1"/>
                </a:solidFill>
              </a:rPr>
              <a:t> INT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);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rtl="1"/>
            <a:endParaRPr lang="en-US" dirty="0">
              <a:solidFill>
                <a:schemeClr val="bg1"/>
              </a:solidFill>
            </a:endParaRPr>
          </a:p>
          <a:p>
            <a:pPr marL="0" defTabSz="914400" rtl="1" eaLnBrk="1" latinLnBrk="0" hangingPunct="1"/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49BEC2-1494-4236-A945-53DC31BE7094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4274" y="1247418"/>
            <a:ext cx="63123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רעיון ליישום: תכונות עיקריות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428667" y="2296358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2921734" y="25307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08900" y="271784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66941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המלצות סרטים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63101" y="392846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מבוססות על דירוגי משתמשים, מאפייני סרטים, גנומים ותגיות.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2296358"/>
            <a:ext cx="6408063" cy="2229445"/>
          </a:xfrm>
          <a:prstGeom prst="roundRect">
            <a:avLst>
              <a:gd name="adj" fmla="val 427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6286976" y="253079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4143" y="271784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32183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חיפוש סרטים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28224" y="392846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לפי ז'אנרים, גנומים ודירוגי משתמשים ממוצעים.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667" y="4752618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12921734" y="49870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08900" y="517409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66941" y="5894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לוח מחוונים למשתמש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63101" y="6384727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הצגת ניתוח נתונים אישי של המשתמש.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752618"/>
            <a:ext cx="6408063" cy="2229445"/>
          </a:xfrm>
          <a:prstGeom prst="roundRect">
            <a:avLst>
              <a:gd name="adj" fmla="val 427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4"/>
          <p:cNvSpPr/>
          <p:nvPr/>
        </p:nvSpPr>
        <p:spPr>
          <a:xfrm>
            <a:off x="6286976" y="49870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4143" y="5174099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132183" y="5894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דירוגי סרטים לפי ז'אנר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384727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דירוג סרטים מובילים בקטגוריות ז'אנר שונות.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50F660-0C61-09DD-3656-30071E0F095A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4924" y="2234446"/>
            <a:ext cx="5871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התאמה לדרישות הפרויקט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9640252" y="328338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3745170" y="328338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652641" y="3540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מערך נתונים פתוח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97547" y="403109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היישום מתבסס על מערך נתונים פתוח (MovieLens) עם למעלה מ-100 אלף שורות.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7081" y="328338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9321998" y="328338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229469" y="3540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שאילתות SQL מורכבות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375" y="4031099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חיבור הקבצים ומימוש רעיון היישום דורשים שאילתות SQL מורכבות.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909" y="3283387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4898827" y="328338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806297" y="3540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קטגוריית</a:t>
            </a: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”</a:t>
            </a:r>
            <a:r>
              <a:rPr lang="he-IL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חינוך</a:t>
            </a: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203" y="403109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he-IL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האפליקציה תתמקד בסרטים דוקומנטריים ולימודים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6322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טבלת הסרטים תכלול עמודות כמו avg_rating ו-rating_count שיחושבו על ידינו.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FB2FB2-F406-7765-5BB1-EDEE9DD53844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021" y="22040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טכנולוגיות מומלצות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79840"/>
            <a:ext cx="407169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Backend: FastAPI (Python)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319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חבילת קוד פתוח בפייתון לבניית ממשקי API מהירים.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989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Microservice REST API קטן.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411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גישה למסד נתונים SQL.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833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החזרת נתונים כחלק מה-API.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479840"/>
            <a:ext cx="46362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Frontend: Angular (Typescript)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413194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אחת מטכנולוגיות הפרונטאנד הנפוצות ביותר בשוק, מבוססת קוד פתוח.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0618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פופולריות ושימוש נרחב.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5040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פיתוח ממשק משתמש אינטראקטיבי.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3510AF-D0D1-3CC1-534D-6502237FC08E}"/>
              </a:ext>
            </a:extLst>
          </p:cNvPr>
          <p:cNvSpPr/>
          <p:nvPr/>
        </p:nvSpPr>
        <p:spPr>
          <a:xfrm>
            <a:off x="12825984" y="7607808"/>
            <a:ext cx="1804416" cy="621792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465</Words>
  <Application>Microsoft Macintosh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Roboto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אייל סטולוב</cp:lastModifiedBy>
  <cp:revision>7</cp:revision>
  <dcterms:created xsi:type="dcterms:W3CDTF">2025-11-18T18:39:35Z</dcterms:created>
  <dcterms:modified xsi:type="dcterms:W3CDTF">2025-11-18T19:00:39Z</dcterms:modified>
</cp:coreProperties>
</file>